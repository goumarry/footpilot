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1C1330"/>
          </a:solidFill>
          <a:ln/>
        </p:spPr>
      </p:sp>
      <p:sp>
        <p:nvSpPr>
          <p:cNvPr id="3" name="Shape 1"/>
          <p:cNvSpPr/>
          <p:nvPr/>
        </p:nvSpPr>
        <p:spPr>
          <a:xfrm>
            <a:off x="6263640" y="0"/>
            <a:ext cx="73152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85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65836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FootPilot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 CLUB DE FOOTBALL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Gérez votre club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effort.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48463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Soutenance de projet annuel — Mastère 1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ESGI Grenoble · Année 2025/2026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Alix Pratabuy  ·  Yoann Goumarre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6355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juillet 2026</a:t>
            </a:r>
            <a:endParaRPr lang="en-US" sz="1200" dirty="0"/>
          </a:p>
        </p:txBody>
      </p:sp>
      <p:pic>
        <p:nvPicPr>
          <p:cNvPr id="12" name="Image 0" descr="/tmp/claude-1000/-home-goumarry-foot-manger/3d944081-28f4-4a1f-bc9f-89ed68f1309a/scratchpad/soutenance/img/accueil_public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417320"/>
            <a:ext cx="4754880" cy="2359429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88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VENDREDI SOIR, 20H.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241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président d'un club amateur cherche, entre quatre conversations WhatsApp et un tableur vieux de trois semaines, si l'entraînement de samedi est confirmé.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352044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D8D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Personne ne sait qui a payé sa cotisation. L'entraîneur ignore qui était présent la semaine dernière. Le joueur découvre le changement d'horaire trop tard.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470916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Cette scène se répète chaque semaine dans la plupart des clubs de football amateurs. Nous avons construit l'outil qui la fait disparaître.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5989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Alix &amp; Yoann — FootPilot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FootPilot — Projet annuel M1 · ESGI Grenoble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PROBLÈME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gestion d'un club amateur, aujourd'hui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F3EEFF"/>
          </a:solidFill>
          <a:ln w="12700">
            <a:solidFill>
              <a:srgbClr val="E4D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423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337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Informations éparpillées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397764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pour le planning, tableurs pour les effectifs, papier pour les présences.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51960" y="210312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F3EEFF"/>
          </a:solidFill>
          <a:ln w="12700">
            <a:solidFill>
              <a:srgbClr val="E4D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1960" y="2423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26280" y="3337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Zéro visibilité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397764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historique d'assiduité ni de statistiques : impossible de suivre la progression d'un joueur.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863840" y="210312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F3EEFF"/>
          </a:solidFill>
          <a:ln w="12700">
            <a:solidFill>
              <a:srgbClr val="E4DA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2423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138160" y="3337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temps perdu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183880" y="397764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dirigeants et entraîneurs bénévoles qui refont, chaque semaine, le même travail administratif.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FootPilot — Projet annuel M1 · ESGI Grenoble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MARCHÉ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les solutions actuelles ne conviennent pas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286000" cy="603504"/>
          </a:xfrm>
          <a:prstGeom prst="rect">
            <a:avLst/>
          </a:prstGeom>
          <a:solidFill>
            <a:srgbClr val="5B21B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57400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26080" y="2057400"/>
            <a:ext cx="2377440" cy="603504"/>
          </a:xfrm>
          <a:prstGeom prst="rect">
            <a:avLst/>
          </a:prstGeom>
          <a:solidFill>
            <a:srgbClr val="5B21B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71800" y="2057400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/ WhatsApp / Papier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0" y="2057400"/>
            <a:ext cx="2148840" cy="603504"/>
          </a:xfrm>
          <a:prstGeom prst="rect">
            <a:avLst/>
          </a:prstGeom>
          <a:solidFill>
            <a:srgbClr val="5B21B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49240" y="2057400"/>
            <a:ext cx="2057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Logiciels fédéraux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52360" y="2057400"/>
            <a:ext cx="2331720" cy="603504"/>
          </a:xfrm>
          <a:prstGeom prst="rect">
            <a:avLst/>
          </a:prstGeom>
          <a:solidFill>
            <a:srgbClr val="5B21B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2057400"/>
            <a:ext cx="2240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pro (structures pro)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784080" y="2057400"/>
            <a:ext cx="1828800" cy="603504"/>
          </a:xfrm>
          <a:prstGeom prst="rect">
            <a:avLst/>
          </a:prstGeom>
          <a:solidFill>
            <a:srgbClr val="5B21B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29800" y="2057400"/>
            <a:ext cx="1737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FootPilot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2660904"/>
            <a:ext cx="22860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660904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26080" y="2660904"/>
            <a:ext cx="23774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660904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Gratuit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03520" y="2660904"/>
            <a:ext cx="21488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2660904"/>
            <a:ext cx="2057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Institutionnel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52360" y="2660904"/>
            <a:ext cx="23317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2660904"/>
            <a:ext cx="2240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Élevé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784080" y="2660904"/>
            <a:ext cx="1828800" cy="603504"/>
          </a:xfrm>
          <a:prstGeom prst="rect">
            <a:avLst/>
          </a:prstGeom>
          <a:solidFill>
            <a:srgbClr val="F3EE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29800" y="2660904"/>
            <a:ext cx="1737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Gratuit pour démarrer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3264408"/>
            <a:ext cx="2286000" cy="603504"/>
          </a:xfrm>
          <a:prstGeom prst="rect">
            <a:avLst/>
          </a:prstGeom>
          <a:solidFill>
            <a:srgbClr val="FAF9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264408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centralisé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926080" y="3264408"/>
            <a:ext cx="2377440" cy="603504"/>
          </a:xfrm>
          <a:prstGeom prst="rect">
            <a:avLst/>
          </a:prstGeom>
          <a:solidFill>
            <a:srgbClr val="FAF9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71800" y="3264408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303520" y="3264408"/>
            <a:ext cx="2148840" cy="603504"/>
          </a:xfrm>
          <a:prstGeom prst="rect">
            <a:avLst/>
          </a:prstGeom>
          <a:solidFill>
            <a:srgbClr val="FAF9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9240" y="3264408"/>
            <a:ext cx="2057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(admin. seul.)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452360" y="3264408"/>
            <a:ext cx="2331720" cy="603504"/>
          </a:xfrm>
          <a:prstGeom prst="rect">
            <a:avLst/>
          </a:prstGeom>
          <a:solidFill>
            <a:srgbClr val="FAF9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0" y="3264408"/>
            <a:ext cx="2240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784080" y="3264408"/>
            <a:ext cx="1828800" cy="603504"/>
          </a:xfrm>
          <a:prstGeom prst="rect">
            <a:avLst/>
          </a:prstGeom>
          <a:solidFill>
            <a:srgbClr val="F3EE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29800" y="3264408"/>
            <a:ext cx="1737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0080" y="3867912"/>
            <a:ext cx="22860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3867912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Pensé mobile / terrain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926080" y="3867912"/>
            <a:ext cx="23774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71800" y="3867912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303520" y="3867912"/>
            <a:ext cx="21488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49240" y="3867912"/>
            <a:ext cx="2057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452360" y="3867912"/>
            <a:ext cx="23317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98080" y="3867912"/>
            <a:ext cx="2240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784080" y="3867912"/>
            <a:ext cx="1828800" cy="603504"/>
          </a:xfrm>
          <a:prstGeom prst="rect">
            <a:avLst/>
          </a:prstGeom>
          <a:solidFill>
            <a:srgbClr val="F3EE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29800" y="3867912"/>
            <a:ext cx="1737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40080" y="4471416"/>
            <a:ext cx="2286000" cy="603504"/>
          </a:xfrm>
          <a:prstGeom prst="rect">
            <a:avLst/>
          </a:prstGeom>
          <a:solidFill>
            <a:srgbClr val="FAF9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471416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Adapté à un bénévole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926080" y="4471416"/>
            <a:ext cx="2377440" cy="603504"/>
          </a:xfrm>
          <a:prstGeom prst="rect">
            <a:avLst/>
          </a:prstGeom>
          <a:solidFill>
            <a:srgbClr val="FAF9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71800" y="4471416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303520" y="4471416"/>
            <a:ext cx="2148840" cy="603504"/>
          </a:xfrm>
          <a:prstGeom prst="rect">
            <a:avLst/>
          </a:prstGeom>
          <a:solidFill>
            <a:srgbClr val="FAF9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49240" y="4471416"/>
            <a:ext cx="2057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7452360" y="4471416"/>
            <a:ext cx="2331720" cy="603504"/>
          </a:xfrm>
          <a:prstGeom prst="rect">
            <a:avLst/>
          </a:prstGeom>
          <a:solidFill>
            <a:srgbClr val="FAF9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98080" y="4471416"/>
            <a:ext cx="2240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9784080" y="4471416"/>
            <a:ext cx="1828800" cy="603504"/>
          </a:xfrm>
          <a:prstGeom prst="rect">
            <a:avLst/>
          </a:prstGeom>
          <a:solidFill>
            <a:srgbClr val="F3EE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829800" y="4471416"/>
            <a:ext cx="1737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40080" y="5074920"/>
            <a:ext cx="22860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5800" y="5074920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 &amp; suivi joueurs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2926080" y="5074920"/>
            <a:ext cx="23774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71800" y="5074920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5303520" y="5074920"/>
            <a:ext cx="21488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49240" y="5074920"/>
            <a:ext cx="2057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7452360" y="5074920"/>
            <a:ext cx="23317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98080" y="5074920"/>
            <a:ext cx="2240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9784080" y="5074920"/>
            <a:ext cx="1828800" cy="603504"/>
          </a:xfrm>
          <a:prstGeom prst="rect">
            <a:avLst/>
          </a:prstGeom>
          <a:solidFill>
            <a:srgbClr val="F3EE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829800" y="5074920"/>
            <a:ext cx="1737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FootPilot — Projet annuel M1 · ESGI Grenoble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POSITIONNEMENT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88036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FootPilot, le copilote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clubs amateurs.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43434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outil tout-en-un, pensé pour le terrain et accessible dès le premier euro — pas une usine à gaz réservée aux clubs professionnels.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FootPilot — Projet annuel M1 · ESGI Grenoble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1 — LE DIRIGEANT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 — Président bénévole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188720" cy="11887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148840" y="2011680"/>
            <a:ext cx="4160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“Je gère 150 licenciés sur mon temps libre, entre mon travail et ma famille.”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577840" cy="2468880"/>
          </a:xfrm>
          <a:prstGeom prst="roundRect">
            <a:avLst>
              <a:gd name="adj" fmla="val 2963"/>
            </a:avLst>
          </a:prstGeom>
          <a:solidFill>
            <a:srgbClr val="F3EEF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 DIFFICULTÉS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416052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✗"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Jongle entre WhatsApp, Excel et mails</a:t>
            </a:r>
            <a:endParaRPr lang="en-US" sz="1350" dirty="0"/>
          </a:p>
          <a:p>
            <a:pPr marL="342900" indent="-342900">
              <a:lnSpc>
                <a:spcPts val="2000"/>
              </a:lnSpc>
              <a:buSzPct val="100000"/>
              <a:buChar char="✗"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vue d'ensemble du club</a:t>
            </a:r>
            <a:endParaRPr lang="en-US" sz="1350" dirty="0"/>
          </a:p>
          <a:p>
            <a:pPr marL="342900" indent="-342900">
              <a:lnSpc>
                <a:spcPts val="2000"/>
              </a:lnSpc>
              <a:buSzPct val="100000"/>
              <a:buChar char="✗"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nouvelle saison repart de zéro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05840" y="5166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FOOTPILOT APPORTE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54864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tableau de bord unique : membres, équipes, planning et statistiques du club, accessible en quelques clics.</a:t>
            </a:r>
            <a:endParaRPr lang="en-US" sz="1350" dirty="0"/>
          </a:p>
        </p:txBody>
      </p:sp>
      <p:pic>
        <p:nvPicPr>
          <p:cNvPr id="12" name="Image 0" descr="/tmp/claude-1000/-home-goumarry-foot-manger/3d944081-28f4-4a1f-bc9f-89ed68f1309a/scratchpad/soutenance/img/dashboard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271183"/>
            <a:ext cx="4572000" cy="2315633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pic>
      <p:sp>
        <p:nvSpPr>
          <p:cNvPr id="13" name="Text 1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FootPilot — Projet annuel M1 · ESGI Grenoble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2 — L'ENTRAÎNEUR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— Entraîneur U13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188720" cy="11887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148840" y="2011680"/>
            <a:ext cx="4160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“Je veux suivre mes joueurs dans la durée, pas juste gérer un match à la fois.”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577840" cy="2468880"/>
          </a:xfrm>
          <a:prstGeom prst="roundRect">
            <a:avLst>
              <a:gd name="adj" fmla="val 2963"/>
            </a:avLst>
          </a:prstGeom>
          <a:solidFill>
            <a:srgbClr val="F3EEF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 DIFFICULTÉS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416052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✗"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Feuilles d'appel papier, vite perdues</a:t>
            </a:r>
            <a:endParaRPr lang="en-US" sz="1350" dirty="0"/>
          </a:p>
          <a:p>
            <a:pPr marL="342900" indent="-342900">
              <a:lnSpc>
                <a:spcPts val="2000"/>
              </a:lnSpc>
              <a:buSzPct val="100000"/>
              <a:buChar char="✗"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historique d'assiduité</a:t>
            </a:r>
            <a:endParaRPr lang="en-US" sz="1350" dirty="0"/>
          </a:p>
          <a:p>
            <a:pPr marL="342900" indent="-342900">
              <a:lnSpc>
                <a:spcPts val="2000"/>
              </a:lnSpc>
              <a:buSzPct val="100000"/>
              <a:buChar char="✗"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statistiques de performance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05840" y="5166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FOOTPILOT APPORTE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54864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Planning, feuille d'appel numérique et statistiques d'assiduité et de performance générées automatiquement.</a:t>
            </a:r>
            <a:endParaRPr lang="en-US" sz="1350" dirty="0"/>
          </a:p>
        </p:txBody>
      </p:sp>
      <p:pic>
        <p:nvPicPr>
          <p:cNvPr id="12" name="Image 0" descr="/tmp/claude-1000/-home-goumarry-foot-manger/3d944081-28f4-4a1f-bc9f-89ed68f1309a/scratchpad/soutenance/img/entrainements_lis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491261"/>
            <a:ext cx="4572000" cy="1875479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pic>
      <p:sp>
        <p:nvSpPr>
          <p:cNvPr id="13" name="Text 1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FootPilot — Projet annuel M1 · ESGI Grenoble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3 — LE JOUEUR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— Joueur (et son parent)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188720" cy="11887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148840" y="2011680"/>
            <a:ext cx="4160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“On a appris le changement d'horaire par un message perdu dans le groupe.”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577840" cy="2468880"/>
          </a:xfrm>
          <a:prstGeom prst="roundRect">
            <a:avLst>
              <a:gd name="adj" fmla="val 2963"/>
            </a:avLst>
          </a:prstGeom>
          <a:solidFill>
            <a:srgbClr val="F3EEF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 DIFFICULTÉS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416052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✗"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Plannings qui changent sans prévenir</a:t>
            </a:r>
            <a:endParaRPr lang="en-US" sz="1350" dirty="0"/>
          </a:p>
          <a:p>
            <a:pPr marL="342900" indent="-342900">
              <a:lnSpc>
                <a:spcPts val="2000"/>
              </a:lnSpc>
              <a:buSzPct val="100000"/>
              <a:buChar char="✗"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statistique personnelle</a:t>
            </a:r>
            <a:endParaRPr lang="en-US" sz="1350" dirty="0"/>
          </a:p>
          <a:p>
            <a:pPr marL="342900" indent="-342900">
              <a:lnSpc>
                <a:spcPts val="2000"/>
              </a:lnSpc>
              <a:buSzPct val="100000"/>
              <a:buChar char="✗"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du club dispersée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05840" y="5166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FOOTPILOT APPORTE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54864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planning à jour, ses statistiques personnelles et le fil d'actualités du club, sur son téléphone.</a:t>
            </a:r>
            <a:endParaRPr lang="en-US" sz="1350" dirty="0"/>
          </a:p>
        </p:txBody>
      </p:sp>
      <p:pic>
        <p:nvPicPr>
          <p:cNvPr id="12" name="Image 0" descr="/tmp/claude-1000/-home-goumarry-foot-manger/3d944081-28f4-4a1f-bc9f-89ed68f1309a/scratchpad/soutenance/img/stats_joueu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487905"/>
            <a:ext cx="4572000" cy="3882189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pic>
      <p:sp>
        <p:nvSpPr>
          <p:cNvPr id="13" name="Text 1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FootPilot — Projet annuel M1 · ESGI Grenoble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DIRECT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88036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Assez parlé.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Voyons FootPilot.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43434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Création de club  →  planning &amp; feuille d'appel  →  statistiques  →  communication  →  abonnement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FootPilot — Projet annuel M1 · ESGI Grenoble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VOUS VENEZ DE VOIR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produit complet, déjà en production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9659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club opérationnel en 2 minutes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231343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Création publique, invitation par lien ou code d'accès — aucune friction pour embarquer un club.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907792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86207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planning qui parle à tout le monde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320954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rôle voit exactement ce qui le concerne : le club entier, ses équipes, ou son propre planning.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803904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75818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assiduité fiable dans le temps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410565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feuille d'appel reste exacte même quand l'effectif change en cours de saison.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4700016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65429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statistiques automatiques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05840" y="50017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joueur, par équipe, par club — sans ressaisie, calculées à la volée.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5596128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55040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communication centralisée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05840" y="58978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 d'actualités avec notification e-mail et messagerie interne par salons.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FootPilot — Projet annuel M1 · ESGI Grenoble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VALEUR AJOUTÉE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nous différencie vraiment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429000" cy="1874520"/>
          </a:xfrm>
          <a:prstGeom prst="roundRect">
            <a:avLst>
              <a:gd name="adj" fmla="val 3415"/>
            </a:avLst>
          </a:prstGeom>
          <a:solidFill>
            <a:srgbClr val="FAF9FF"/>
          </a:solidFill>
          <a:ln w="12700">
            <a:solidFill>
              <a:srgbClr val="E4D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2199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first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Pensé pour être utilisé au bord du terrain, pas depuis un bureau.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2057400"/>
            <a:ext cx="3429000" cy="1874520"/>
          </a:xfrm>
          <a:prstGeom prst="roundRect">
            <a:avLst>
              <a:gd name="adj" fmla="val 3415"/>
            </a:avLst>
          </a:prstGeom>
          <a:solidFill>
            <a:srgbClr val="FAF9FF"/>
          </a:solidFill>
          <a:ln w="12700">
            <a:solidFill>
              <a:srgbClr val="E4D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222199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480560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Tout-en-un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480560" y="31089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Planning, présences, résultats, statistiques et communication dans un seul outil.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5280" y="2057400"/>
            <a:ext cx="3429000" cy="1874520"/>
          </a:xfrm>
          <a:prstGeom prst="roundRect">
            <a:avLst>
              <a:gd name="adj" fmla="val 3415"/>
            </a:avLst>
          </a:prstGeom>
          <a:solidFill>
            <a:srgbClr val="FAF9FF"/>
          </a:solidFill>
          <a:ln w="12700">
            <a:solidFill>
              <a:srgbClr val="E4DA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222199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138160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138160" y="31089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disponible en 7 langues (fr, en, de, es, it, zh, ar).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160520"/>
            <a:ext cx="3429000" cy="1874520"/>
          </a:xfrm>
          <a:prstGeom prst="roundRect">
            <a:avLst>
              <a:gd name="adj" fmla="val 3415"/>
            </a:avLst>
          </a:prstGeom>
          <a:solidFill>
            <a:srgbClr val="FAF9FF"/>
          </a:solidFill>
          <a:ln w="12700">
            <a:solidFill>
              <a:srgbClr val="E4DA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32511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22960" y="48463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Sécurisé par construction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22960" y="52120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Cloisonnement strict des données par club, à chaque requête.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97680" y="4160520"/>
            <a:ext cx="3429000" cy="1874520"/>
          </a:xfrm>
          <a:prstGeom prst="roundRect">
            <a:avLst>
              <a:gd name="adj" fmla="val 3415"/>
            </a:avLst>
          </a:prstGeom>
          <a:solidFill>
            <a:srgbClr val="FAF9FF"/>
          </a:solidFill>
          <a:ln w="12700">
            <a:solidFill>
              <a:srgbClr val="E4DA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432511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480560" y="48463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Vraiment en production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480560" y="52120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une maquette : une application déployée, utilisable dès aujourd'hui.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55280" y="4160520"/>
            <a:ext cx="3429000" cy="1874520"/>
          </a:xfrm>
          <a:prstGeom prst="roundRect">
            <a:avLst>
              <a:gd name="adj" fmla="val 3415"/>
            </a:avLst>
          </a:prstGeom>
          <a:solidFill>
            <a:srgbClr val="FAF9FF"/>
          </a:solidFill>
          <a:ln w="12700">
            <a:solidFill>
              <a:srgbClr val="E4DA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0" y="432511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💶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138160" y="48463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aux bénévoles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138160" y="52120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Gratuit pour démarrer, freemium à partir de 4,99€/mois.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FootPilot — Projet annuel M1 · ESGI Grenoble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ÉCONOMIQUE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freemium pensé pour un club de bénévoles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103120"/>
            <a:ext cx="3383280" cy="374904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3774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Gratuit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28803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0 €</a:t>
            </a:r>
            <a:pPr indent="0" marL="0">
              <a:buNone/>
            </a:pPr>
            <a:r>
              <a:rPr lang="en-US" sz="130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51560" y="361188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✓"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Toutes les fonctions de gestion</a:t>
            </a:r>
            <a:endParaRPr lang="en-US" sz="1350" dirty="0"/>
          </a:p>
          <a:p>
            <a:pPr marL="342900" indent="-342900">
              <a:lnSpc>
                <a:spcPts val="2200"/>
              </a:lnSpc>
              <a:buSzPct val="100000"/>
              <a:buChar char="✓"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Jusqu'à 3 équipes</a:t>
            </a:r>
            <a:endParaRPr lang="en-US" sz="1350" dirty="0"/>
          </a:p>
          <a:p>
            <a:pPr marL="342900" indent="-342900">
              <a:lnSpc>
                <a:spcPts val="2200"/>
              </a:lnSpc>
              <a:buSzPct val="100000"/>
              <a:buChar char="✓"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Jusqu'à 30 joueurs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80560" y="1965960"/>
            <a:ext cx="3383280" cy="4023360"/>
          </a:xfrm>
          <a:prstGeom prst="roundRect">
            <a:avLst>
              <a:gd name="adj" fmla="val 243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77800" dist="50800" dir="5400000">
              <a:srgbClr val="7C3AED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2240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54880" y="27432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4,99 €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mois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754880" y="347472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Statistiques joueurs &amp; équipes</a:t>
            </a:r>
            <a:endParaRPr lang="en-US" sz="1350" dirty="0"/>
          </a:p>
          <a:p>
            <a:pPr marL="342900" indent="-342900">
              <a:lnSpc>
                <a:spcPts val="2200"/>
              </a:lnSpc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Messagerie interne</a:t>
            </a:r>
            <a:endParaRPr lang="en-US" sz="1350" dirty="0"/>
          </a:p>
          <a:p>
            <a:pPr marL="342900" indent="-342900">
              <a:lnSpc>
                <a:spcPts val="2200"/>
              </a:lnSpc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limite d'usage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83880" y="2103120"/>
            <a:ext cx="3383280" cy="374904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23774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 Illimité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458200" y="28803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9,99 €</a:t>
            </a:r>
            <a:pPr indent="0" marL="0">
              <a:buNone/>
            </a:pPr>
            <a:r>
              <a:rPr lang="en-US" sz="130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achat unique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458200" y="361188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✓"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Équipes illimitées</a:t>
            </a:r>
            <a:endParaRPr lang="en-US" sz="1350" dirty="0"/>
          </a:p>
          <a:p>
            <a:pPr marL="342900" indent="-342900">
              <a:lnSpc>
                <a:spcPts val="2200"/>
              </a:lnSpc>
              <a:buSzPct val="100000"/>
              <a:buChar char="✓"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Joueurs illimités</a:t>
            </a:r>
            <a:endParaRPr lang="en-US" sz="1350" dirty="0"/>
          </a:p>
          <a:p>
            <a:pPr marL="342900" indent="-342900">
              <a:lnSpc>
                <a:spcPts val="2200"/>
              </a:lnSpc>
              <a:buSzPct val="100000"/>
              <a:buChar char="✓"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engagement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77240" y="60807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Clubs « fondateurs » early adopters : accès complet gratuit à vie.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FootPilot — Projet annuel M1 · ESGI Grenoble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PRODUIT RÉEL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ne vous présente pas une maquette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F3EE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56032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77240" y="32461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production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+ Railway, accessible dès aujourd'hui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10712" y="228600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F3EEFF"/>
          </a:solidFill>
          <a:ln/>
        </p:spPr>
      </p:sp>
      <p:sp>
        <p:nvSpPr>
          <p:cNvPr id="9" name="Text 7"/>
          <p:cNvSpPr/>
          <p:nvPr/>
        </p:nvSpPr>
        <p:spPr>
          <a:xfrm>
            <a:off x="3410712" y="256032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~15 000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547872" y="32461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lignes de code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93592" y="370332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de bout en bout, front et back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81344" y="228600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F3EEFF"/>
          </a:solidFill>
          <a:ln/>
        </p:spPr>
      </p:sp>
      <p:sp>
        <p:nvSpPr>
          <p:cNvPr id="13" name="Text 11"/>
          <p:cNvSpPr/>
          <p:nvPr/>
        </p:nvSpPr>
        <p:spPr>
          <a:xfrm>
            <a:off x="6181344" y="256032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318504" y="32461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étapes de CI/CD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64224" y="370332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Lint, tests, sécurité, E2E, déploiement auto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51976" y="228600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F3EEFF"/>
          </a:solidFill>
          <a:ln/>
        </p:spPr>
      </p:sp>
      <p:sp>
        <p:nvSpPr>
          <p:cNvPr id="17" name="Text 15"/>
          <p:cNvSpPr/>
          <p:nvPr/>
        </p:nvSpPr>
        <p:spPr>
          <a:xfrm>
            <a:off x="8951976" y="256032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089136" y="32461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34856" y="370332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traduite, français en langue de référence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50292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: JWT + bcrypt, validation systématique des entrées, cloisonnement des données par club, analyse automatisée (CodeQL) et rate limiting.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FootPilot — Projet annuel M1 · ESGI Grenoble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VISION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demain 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251460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0632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mobile (PWA)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push pour ne plus jamais rater un changement d'horaire.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10712" y="21945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410712" y="2880360"/>
            <a:ext cx="251460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0712" y="30632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Messagerie en temps réel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10712" y="37947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Passage aux WebSockets pour une communication instantanée.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81344" y="21945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6181344" y="2880360"/>
            <a:ext cx="251460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1344" y="30632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Covoiturage avancé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81344" y="37947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vrai module d'organisation des déplacements pour les matchs à l'extérieur.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51976" y="21945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8951976" y="2880360"/>
            <a:ext cx="251460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51976" y="30632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Passage à l'échelle SaaS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51976" y="37947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multi-club pensée dès la v1 pour cette évolution.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FootPilot — Projet annuel M1 · ESGI Grenoble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SOMMES-NOUS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équipe qui a tenu le cap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88720" y="2148840"/>
            <a:ext cx="4297680" cy="2651760"/>
          </a:xfrm>
          <a:prstGeom prst="roundRect">
            <a:avLst>
              <a:gd name="adj" fmla="val 2759"/>
            </a:avLst>
          </a:prstGeom>
          <a:solidFill>
            <a:srgbClr val="FAF9FF"/>
          </a:solidFill>
          <a:ln w="12700">
            <a:solidFill>
              <a:srgbClr val="E4DA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2468880"/>
            <a:ext cx="914400" cy="9144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2468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606040" y="2560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Alix Pratabuy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606040" y="29260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Cadrage initial, maquettes, développement full-stack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88720" y="3611880"/>
            <a:ext cx="4297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943600" y="2148840"/>
            <a:ext cx="4297680" cy="2651760"/>
          </a:xfrm>
          <a:prstGeom prst="roundRect">
            <a:avLst>
              <a:gd name="adj" fmla="val 2759"/>
            </a:avLst>
          </a:prstGeom>
          <a:solidFill>
            <a:srgbClr val="FAF9FF"/>
          </a:solidFill>
          <a:ln w="12700">
            <a:solidFill>
              <a:srgbClr val="E4DA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2468880"/>
            <a:ext cx="914400" cy="9144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2468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60920" y="2560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Yoann Goumarre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60920" y="29260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Master, logique métier, CI/CD &amp; déploiement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43600" y="3611880"/>
            <a:ext cx="4297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88720" y="5074920"/>
            <a:ext cx="9052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L'équipe est passée de quatre à deux membres en cours d'année. On aurait pu réduire le périmètre : on a préféré se répartir tout le stack, du cahier des charges au déploiement en production, et livrer l'intégralité du projet.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FootPilot — Projet annuel M1 · ESGI Grenoble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88036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FootPilot n'est pas un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 d'école.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43434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C'est une application réelle, en production, prête à être utilisée par n'importe quel club amateur dès aujourd'hui.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5669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de votre attention. Place à vos questions.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FootPilot — Projet annuel M1 · ESGI Grenoble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!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foot-pilot.vercel.app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D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Alix Pratabuy  ·  Yoann Goumarre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E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FootPilot — Projet annuel M1 · ESGI Grenoble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FootPilot — Soutenance de projet annuel</dc:title>
  <dc:subject>PptxGenJS Presentation</dc:subject>
  <dc:creator>Alix Pratabuy, Yoann Goumarre</dc:creator>
  <cp:lastModifiedBy>Alix Pratabuy, Yoann Goumarre</cp:lastModifiedBy>
  <cp:revision>1</cp:revision>
  <dcterms:created xsi:type="dcterms:W3CDTF">2026-07-21T13:58:15Z</dcterms:created>
  <dcterms:modified xsi:type="dcterms:W3CDTF">2026-07-21T13:58:15Z</dcterms:modified>
</cp:coreProperties>
</file>